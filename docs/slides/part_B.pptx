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原始片段数</c:v>
                </c:pt>
              </c:strCache>
            </c:strRef>
          </c:tx>
          <c:spPr>
            <a:solidFill>
              <a:srgbClr val="2B7258"/>
            </a:solidFill>
          </c:spPr>
          <c:cat>
            <c:strRef>
              <c:f>Sheet1!$A$2:$A$4</c:f>
              <c:strCache>
                <c:ptCount val="3"/>
                <c:pt idx="0">
                  <c:v>三人</c:v>
                </c:pt>
                <c:pt idx="1">
                  <c:v>四人</c:v>
                </c:pt>
                <c:pt idx="2">
                  <c:v>五人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262</c:v>
                </c:pt>
                <c:pt idx="1">
                  <c:v>187</c:v>
                </c:pt>
                <c:pt idx="2">
                  <c:v>82</c:v>
                </c:pt>
              </c:numCache>
            </c:numRef>
          </c:val>
        </c:ser>
        <c:dLbls>
          <c:txPr>
            <a:bodyPr/>
            <a:lstStyle/>
            <a:p>
              <a:pPr>
                <a:defRPr sz="1600">
                  <a:latin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Microsoft YaHei"/>
              </a:defRPr>
            </a:pPr>
          </a:p>
        </c:txPr>
        <c:crossAx val="-2068027336"/>
        <c:crosses val="autoZero"/>
        <c:majorUnit val="10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45秒。我的部分解决的是，怎样把一段多人配合作为一个整体保留下来。普通传球图中的一条线只连接两个人；如果只展示两两关系，读者不容易知道哪些球员属于同一个事件片段。我们用一条包络表示完整成员集合，本项目要求至少三名不同球员。节点是球员，超边是有来源依据的片段，并且可以点击回到原始事件。这里是概念示意，关系布局不代表球场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60秒。A已经提供真实比赛的规范化事件。我按阶段和事件序号恢复顺序，只使用常规时间与加时赛。传球必须明确成功，下一位发起者要接上上一位传球对象；换控球、失败传球和时间异常都会切断链。每次最多四次传球、二十秒、五名球员，去重达到三人才生成超边。默认得到五百三十一条原始片段，三人、四人、五人的分布见图。每条保存时间和源事件，权重是一；重复组合在展示时才合并。窗口会重叠，因此片段数不是独立进攻次数。参数可配置，报告比较了两次、三次、四次传球的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65秒。现场依次选择Messi、点击组合并展开事件、切Competition、缩小时间范围。选择Messi后，主图高亮相关组合，C面板显示八十一个协作片段。默认仅显示前十二个完整组合，所有原始片段仍保留在统计和证据列表。点击包络可以看到全部成员、时间和事件ID，也能从图中选择球员反向更新面板。主图支持拖拽、缩放、平移和键盘选择。对抗模式复用同一个SVG，使用D的数据和虚线样式，明确这是事件窗口推断。球队、时间和球员通过共享状态联动。我的交付包括协作算法、主图、测试及真实案例。AI辅助实现和验证，成员本人还需审阅和计时排练。数据来源：StatsBomb Open Data，固定提交4b73468fc5b0f1950f9f66fada70ad3a4f9327cb。D3 7.9.0，ISC许可证。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5156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2B7258"/>
                </a:solidFill>
                <a:latin typeface="Microsoft YaHei"/>
              </a:rPr>
              <a:t>FOOTBALL HYPERGRAPH  /  MEMBER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spcAft>
                <a:spcPts val="800"/>
              </a:spcAft>
            </a:pPr>
            <a:r>
              <a:rPr sz="2900" b="1">
                <a:solidFill>
                  <a:srgbClr val="203F38"/>
                </a:solidFill>
                <a:latin typeface="Microsoft YaHei"/>
              </a:rPr>
              <a:t>把一次多人配合，保留为一个集合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0756C"/>
                </a:solidFill>
                <a:latin typeface="Microsoft YaHei"/>
              </a:rPr>
              <a:t>StatsBomb Open Data · match 3869685 | Codex 辅助实现、测试与材料整理 | B · 1/3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5349240" cy="4251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63640" y="1783080"/>
            <a:ext cx="5349240" cy="4251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57200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spcAft>
                <a:spcPts val="800"/>
              </a:spcAft>
            </a:pPr>
            <a:r>
              <a:rPr sz="2100" b="1">
                <a:solidFill>
                  <a:srgbClr val="203F38"/>
                </a:solidFill>
                <a:latin typeface="Microsoft YaHei"/>
              </a:rPr>
              <a:t>两两关系示意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2057400"/>
            <a:ext cx="457200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spcAft>
                <a:spcPts val="800"/>
              </a:spcAft>
            </a:pPr>
            <a:r>
              <a:rPr sz="2100" b="1">
                <a:solidFill>
                  <a:srgbClr val="203F38"/>
                </a:solidFill>
                <a:latin typeface="Microsoft YaHei"/>
              </a:rPr>
              <a:t>同一片段的完整集合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20240" y="3200400"/>
            <a:ext cx="2560320" cy="0"/>
          </a:xfrm>
          <a:prstGeom prst="line">
            <a:avLst/>
          </a:prstGeom>
          <a:ln w="25400">
            <a:solidFill>
              <a:srgbClr val="287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3200400" y="3200400"/>
            <a:ext cx="1280160" cy="1554480"/>
          </a:xfrm>
          <a:prstGeom prst="line">
            <a:avLst/>
          </a:prstGeom>
          <a:ln w="25400">
            <a:solidFill>
              <a:srgbClr val="287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1920240" y="3200400"/>
            <a:ext cx="1280160" cy="1554480"/>
          </a:xfrm>
          <a:prstGeom prst="line">
            <a:avLst/>
          </a:prstGeom>
          <a:ln w="25400">
            <a:solidFill>
              <a:srgbClr val="287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783080" y="3063240"/>
            <a:ext cx="274320" cy="274320"/>
          </a:xfrm>
          <a:prstGeom prst="ellipse">
            <a:avLst/>
          </a:prstGeom>
          <a:solidFill>
            <a:srgbClr val="287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3429000"/>
            <a:ext cx="9144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0">
                <a:solidFill>
                  <a:srgbClr val="203F38"/>
                </a:solidFill>
                <a:latin typeface="Microsoft YaHei"/>
              </a:rPr>
              <a:t>A</a:t>
            </a:r>
          </a:p>
        </p:txBody>
      </p:sp>
      <p:sp>
        <p:nvSpPr>
          <p:cNvPr id="14" name="Oval 13"/>
          <p:cNvSpPr/>
          <p:nvPr/>
        </p:nvSpPr>
        <p:spPr>
          <a:xfrm>
            <a:off x="4343400" y="3063240"/>
            <a:ext cx="274320" cy="274320"/>
          </a:xfrm>
          <a:prstGeom prst="ellipse">
            <a:avLst/>
          </a:prstGeom>
          <a:solidFill>
            <a:srgbClr val="287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0" y="3429000"/>
            <a:ext cx="9144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0">
                <a:solidFill>
                  <a:srgbClr val="203F38"/>
                </a:solidFill>
                <a:latin typeface="Microsoft YaHei"/>
              </a:rPr>
              <a:t>B</a:t>
            </a:r>
          </a:p>
        </p:txBody>
      </p:sp>
      <p:sp>
        <p:nvSpPr>
          <p:cNvPr id="16" name="Oval 15"/>
          <p:cNvSpPr/>
          <p:nvPr/>
        </p:nvSpPr>
        <p:spPr>
          <a:xfrm>
            <a:off x="3063240" y="4617720"/>
            <a:ext cx="274320" cy="274320"/>
          </a:xfrm>
          <a:prstGeom prst="ellipse">
            <a:avLst/>
          </a:prstGeom>
          <a:solidFill>
            <a:srgbClr val="287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4983480"/>
            <a:ext cx="9144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0">
                <a:solidFill>
                  <a:srgbClr val="203F38"/>
                </a:solidFill>
                <a:latin typeface="Microsoft YaHei"/>
              </a:rPr>
              <a:t>C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743200"/>
            <a:ext cx="3566160" cy="2606040"/>
          </a:xfrm>
          <a:prstGeom prst="ellipse">
            <a:avLst/>
          </a:prstGeom>
          <a:solidFill>
            <a:srgbClr val="E0EFE6"/>
          </a:solidFill>
          <a:ln w="25400">
            <a:solidFill>
              <a:srgbClr val="2B7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635240" y="3063240"/>
            <a:ext cx="274320" cy="274320"/>
          </a:xfrm>
          <a:prstGeom prst="ellipse">
            <a:avLst/>
          </a:prstGeom>
          <a:solidFill>
            <a:srgbClr val="287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0" y="3429000"/>
            <a:ext cx="9144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0">
                <a:solidFill>
                  <a:srgbClr val="203F38"/>
                </a:solidFill>
                <a:latin typeface="Microsoft YaHei"/>
              </a:rPr>
              <a:t>A</a:t>
            </a:r>
          </a:p>
        </p:txBody>
      </p:sp>
      <p:sp>
        <p:nvSpPr>
          <p:cNvPr id="21" name="Oval 20"/>
          <p:cNvSpPr/>
          <p:nvPr/>
        </p:nvSpPr>
        <p:spPr>
          <a:xfrm>
            <a:off x="10012680" y="3063240"/>
            <a:ext cx="274320" cy="274320"/>
          </a:xfrm>
          <a:prstGeom prst="ellipse">
            <a:avLst/>
          </a:prstGeom>
          <a:solidFill>
            <a:srgbClr val="287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3429000"/>
            <a:ext cx="9144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0">
                <a:solidFill>
                  <a:srgbClr val="203F38"/>
                </a:solidFill>
                <a:latin typeface="Microsoft YaHei"/>
              </a:rPr>
              <a:t>B</a:t>
            </a:r>
          </a:p>
        </p:txBody>
      </p:sp>
      <p:sp>
        <p:nvSpPr>
          <p:cNvPr id="23" name="Oval 22"/>
          <p:cNvSpPr/>
          <p:nvPr/>
        </p:nvSpPr>
        <p:spPr>
          <a:xfrm>
            <a:off x="8823960" y="4617720"/>
            <a:ext cx="274320" cy="274320"/>
          </a:xfrm>
          <a:prstGeom prst="ellipse">
            <a:avLst/>
          </a:prstGeom>
          <a:solidFill>
            <a:srgbClr val="287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4983480"/>
            <a:ext cx="9144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0">
                <a:solidFill>
                  <a:srgbClr val="203F38"/>
                </a:solidFill>
                <a:latin typeface="Microsoft YaHei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440680"/>
            <a:ext cx="45720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60756C"/>
                </a:solidFill>
                <a:latin typeface="Microsoft YaHei"/>
              </a:rPr>
              <a:t>每条连线关联两人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5440680"/>
            <a:ext cx="45720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2B7258"/>
                </a:solidFill>
                <a:latin typeface="Microsoft YaHei"/>
              </a:rPr>
              <a:t>e = {A, B, C} · 本项目至少三人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5156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2B7258"/>
                </a:solidFill>
                <a:latin typeface="Microsoft YaHei"/>
              </a:rPr>
              <a:t>FOOTBALL HYPERGRAPH  /  MEMBER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spcAft>
                <a:spcPts val="800"/>
              </a:spcAft>
            </a:pPr>
            <a:r>
              <a:rPr sz="2900" b="1">
                <a:solidFill>
                  <a:srgbClr val="203F38"/>
                </a:solidFill>
                <a:latin typeface="Microsoft YaHei"/>
              </a:rPr>
              <a:t>先确定证据，再构建有界传球窗口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0756C"/>
                </a:solidFill>
                <a:latin typeface="Microsoft YaHei"/>
              </a:rPr>
              <a:t>StatsBomb Open Data · match 3869685 | Codex 辅助实现、测试与材料整理 | B · 2/3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91640"/>
            <a:ext cx="3291840" cy="9144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spcAft>
                <a:spcPts val="800"/>
              </a:spcAft>
            </a:pPr>
            <a:r>
              <a:rPr sz="5600" b="1">
                <a:solidFill>
                  <a:srgbClr val="2B7258"/>
                </a:solidFill>
                <a:latin typeface="Microsoft YaHei"/>
              </a:rPr>
              <a:t>531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438912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203F38"/>
                </a:solidFill>
                <a:latin typeface="Microsoft YaHei"/>
              </a:rPr>
              <a:t>真实原始协作片段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4754880" cy="5029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1">
                <a:solidFill>
                  <a:srgbClr val="2B7258"/>
                </a:solidFill>
                <a:latin typeface="Microsoft YaHei"/>
              </a:rPr>
              <a:t>最多 4 次传球 / 20 秒 / 5 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5029200" cy="1600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203F38"/>
                </a:solidFill>
                <a:latin typeface="Microsoft YaHei"/>
              </a:rPr>
              <a:t>按比赛顺序 → 同队、同控球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203F38"/>
                </a:solidFill>
                <a:latin typeface="Microsoft YaHei"/>
              </a:rPr>
              <a:t>成功传球相连 → 三人以上才输出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203F38"/>
                </a:solidFill>
                <a:latin typeface="Microsoft YaHei"/>
              </a:rPr>
              <a:t>每条 weight=1，保留时间和源事件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035040" y="1920240"/>
          <a:ext cx="539496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172200" y="5532120"/>
            <a:ext cx="5120640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0756C"/>
                </a:solidFill>
                <a:latin typeface="Microsoft YaHei"/>
              </a:rPr>
              <a:t>窗口可以重叠；片段数不等于独立进攻次数。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5156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2B7258"/>
                </a:solidFill>
                <a:latin typeface="Microsoft YaHei"/>
              </a:rPr>
              <a:t>FOOTBALL HYPERGRAPH  /  MEMBER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spcAft>
                <a:spcPts val="800"/>
              </a:spcAft>
            </a:pPr>
            <a:r>
              <a:rPr sz="2900" b="1">
                <a:solidFill>
                  <a:srgbClr val="203F38"/>
                </a:solidFill>
                <a:latin typeface="Microsoft YaHei"/>
              </a:rPr>
              <a:t>让球星、事件证据与时间在同一个主图联动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0756C"/>
                </a:solidFill>
                <a:latin typeface="Microsoft YaHei"/>
              </a:rPr>
              <a:t>StatsBomb Open Data · match 3869685 | Codex 辅助实现、测试与材料整理 | B · 3/3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7132320" cy="4434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ypergraph-b-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257" y="1883664"/>
            <a:ext cx="5778229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2440" y="1965960"/>
            <a:ext cx="356616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spcAft>
                <a:spcPts val="800"/>
              </a:spcAft>
            </a:pPr>
            <a:r>
              <a:rPr sz="2500" b="1">
                <a:solidFill>
                  <a:srgbClr val="2B7258"/>
                </a:solidFill>
                <a:latin typeface="Microsoft YaHei"/>
              </a:rPr>
              <a:t>选择 Messi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2606040"/>
            <a:ext cx="3566160" cy="10058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203F38"/>
                </a:solidFill>
                <a:latin typeface="Microsoft YaHei"/>
              </a:rPr>
              <a:t>81 个协作片段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203F38"/>
                </a:solidFill>
                <a:latin typeface="Microsoft YaHei"/>
              </a:rPr>
              <a:t>点击组合，展开源事件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3840480"/>
            <a:ext cx="3566160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1">
                <a:solidFill>
                  <a:srgbClr val="2B7258"/>
                </a:solidFill>
                <a:latin typeface="Microsoft YaHei"/>
              </a:rPr>
              <a:t>切换对抗 / 调整时间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4572000"/>
            <a:ext cx="3566160" cy="1371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203F38"/>
                </a:solidFill>
                <a:latin typeface="Microsoft YaHei"/>
              </a:rPr>
              <a:t>同一 SVG · 虚线表示推断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203F38"/>
                </a:solidFill>
                <a:latin typeface="Microsoft YaHei"/>
              </a:rPr>
              <a:t>拖拽 / 缩放 / 键盘可用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203F38"/>
                </a:solidFill>
                <a:latin typeface="Microsoft YaHei"/>
              </a:rPr>
              <a:t>Top 12/24 明示显示上限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