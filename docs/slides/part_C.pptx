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05b06686b1435a" /><Relationship Type="http://schemas.openxmlformats.org/officeDocument/2006/relationships/extended-properties" Target="/docProps/app.xml" Id="R46f7b7b4c0d14835" /><Relationship Type="http://schemas.openxmlformats.org/officeDocument/2006/relationships/officeDocument" Target="/ppt/presentation.xml" Id="R4a25b056324c41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e9e66e4964615"/>
  </p:sldMasterIdLst>
  <p:notesMasterIdLst>
    <p:notesMasterId xmlns:r="http://schemas.openxmlformats.org/officeDocument/2006/relationships" r:id="R921994133b52496f"/>
  </p:notesMasterIdLst>
  <p:sldIdLst>
    <p:sldId xmlns:r="http://schemas.openxmlformats.org/officeDocument/2006/relationships" id="256" r:id="Rbc8a172a055f40d9"/>
    <p:sldId xmlns:r="http://schemas.openxmlformats.org/officeDocument/2006/relationships" id="257" r:id="R134e8c0780a44fef"/>
    <p:sldId xmlns:r="http://schemas.openxmlformats.org/officeDocument/2006/relationships" id="258" r:id="Re20e1404db0641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c4bf81d35b4cd5" /><Relationship Type="http://schemas.openxmlformats.org/officeDocument/2006/relationships/slideMaster" Target="/ppt/slideMasters/slideMaster1.xml" Id="R8dee9e66e4964615" /><Relationship Type="http://schemas.openxmlformats.org/officeDocument/2006/relationships/notesMaster" Target="/ppt/notesMasters/notesMaster1.xml" Id="R921994133b52496f" /><Relationship Type="http://schemas.openxmlformats.org/officeDocument/2006/relationships/presProps" Target="/ppt/presProps.xml" Id="Re307bbd69467460f" /><Relationship Type="http://schemas.openxmlformats.org/officeDocument/2006/relationships/tableStyles" Target="/ppt/tableStyles.xml" Id="Rfb9532a0435b4a3e" /><Relationship Type="http://schemas.openxmlformats.org/officeDocument/2006/relationships/slide" Target="/ppt/slides/slide1.xml" Id="Rbc8a172a055f40d9" /><Relationship Type="http://schemas.openxmlformats.org/officeDocument/2006/relationships/slide" Target="/ppt/slides/slide2.xml" Id="R134e8c0780a44fef" /><Relationship Type="http://schemas.openxmlformats.org/officeDocument/2006/relationships/slide" Target="/ppt/slides/slide3.xml" Id="Re20e1404db0641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8946cc737c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3c5aa2edcb4b7c" /><Relationship Type="http://schemas.openxmlformats.org/officeDocument/2006/relationships/notesMaster" Target="/ppt/notesMasters/notesMaster1.xml" Id="R30df9f4263a44d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00e2d965ff4708" /><Relationship Type="http://schemas.openxmlformats.org/officeDocument/2006/relationships/notesMaster" Target="/ppt/notesMasters/notesMaster1.xml" Id="R51f75cb5af2140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4e42ed8c364e3b" /><Relationship Type="http://schemas.openxmlformats.org/officeDocument/2006/relationships/notesMaster" Target="/ppt/notesMasters/notesMaster1.xml" Id="Rdf8981551a6e45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秒。先在 C 搜索或快捷选择 Messi，统一状态 selectedPlayerId 随之改变。B 的主超图会高亮包含他的超边；点击 B 的球员节点也能反向更新 C。右侧是实际运行的个人分析面板，左侧是 B 的真实主图。我们用个人入口进入多人关系，但超边始终保存三人及以上的完整球员集合。截图来自 2022 世界杯决赛 StatsBomb Open Data，比赛 ID 3869685。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65 秒。先看左侧两个数：Messi 参与 87 条原始对抗窗口；其中与 Rabiot 同时出现的有 22 条。窗口可能相互重叠，也跨越两队，所以 22 条不能解释为两人直接一对一对抗。右侧是真实页面的 Top 5 共同参与球员和完整组合列表。统计从原始超边计算，每条计一次；完整组合按照全部成员集合分组。点击某个组合后，C 展开时间、超边和来源事件 ID，并向 B 发出精确高亮请求。B 在当前模式、球员和时间范围内校验请求。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55 秒。拖动 D 的时间筛选，C 的个人指标、多人关系以及 B 主图使用同一时间窗口。真实案例中，Mbappé 在源时钟 80 到 81 分钟有 1 粒进球，当前时段显示 1，下方全场对照仍是 3。右侧展示 C 的另一种探索方式：Messi 的真实射门位置、xG 和事件清单；也可以切到同时间段的双人对比。零传球时成功率显示 N/A，缺失的助攻和 xG 不补零，点球大战从普通比赛指标中排除。射门图中的圆点可与清单联动，来源事件可以追溯。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9e43bf58e4a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dab34dc7e48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a8b606ef44a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0f6a6dc1744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db735ff5e49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90046beb142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6BE2DD-26A8-4787-91E3-E44F17086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CD3CA0-C096-4913-BDDC-3E86136772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ABBB39-654E-4644-BD1A-F9181657E5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F67201-45DC-428C-849A-127ADCCE1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5500B5-A3EA-49A7-B9F8-3702B7E44C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48CDEF-8C01-4710-BE1B-73D95A950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373576-0E5E-4F3A-A57E-804199BBD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4CAB3D-8FD7-4550-84C5-9D7A883449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8CFADD-D086-4571-850E-68763BD83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CC7447-2784-496A-93B5-E8EA83CFA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3b32c4d7de43df" /><Relationship Type="http://schemas.openxmlformats.org/officeDocument/2006/relationships/slideLayout" Target="/ppt/slideLayouts/slideLayout1.xml" Id="R69e21ebae9b94347" /><Relationship Type="http://schemas.openxmlformats.org/officeDocument/2006/relationships/slideLayout" Target="/ppt/slideLayouts/slideLayout2.xml" Id="R18f845cf61f04ffa" /><Relationship Type="http://schemas.openxmlformats.org/officeDocument/2006/relationships/slideLayout" Target="/ppt/slideLayouts/slideLayout3.xml" Id="Rcb3bc08dbd1a49d0" /><Relationship Type="http://schemas.openxmlformats.org/officeDocument/2006/relationships/slideLayout" Target="/ppt/slideLayouts/slideLayout4.xml" Id="R2604aa796f8d49d3" /><Relationship Type="http://schemas.openxmlformats.org/officeDocument/2006/relationships/slideLayout" Target="/ppt/slideLayouts/slideLayout5.xml" Id="R42523a790de74920" /><Relationship Type="http://schemas.openxmlformats.org/officeDocument/2006/relationships/slideLayout" Target="/ppt/slideLayouts/slideLayout6.xml" Id="Rc363020bfe8c44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21ebae9b94347"/>
    <p:sldLayoutId xmlns:r="http://schemas.openxmlformats.org/officeDocument/2006/relationships" id="2147483650" r:id="R18f845cf61f04ffa"/>
    <p:sldLayoutId xmlns:r="http://schemas.openxmlformats.org/officeDocument/2006/relationships" id="2147483651" r:id="Rcb3bc08dbd1a49d0"/>
    <p:sldLayoutId xmlns:r="http://schemas.openxmlformats.org/officeDocument/2006/relationships" id="2147483652" r:id="R2604aa796f8d49d3"/>
    <p:sldLayoutId xmlns:r="http://schemas.openxmlformats.org/officeDocument/2006/relationships" id="2147483653" r:id="R42523a790de74920"/>
    <p:sldLayoutId xmlns:r="http://schemas.openxmlformats.org/officeDocument/2006/relationships" id="2147483654" r:id="Rc363020bfe8c44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56e5466a44341" /><Relationship Type="http://schemas.openxmlformats.org/officeDocument/2006/relationships/image" Target="/ppt/media/image.png" Id="R1f40795851674c06" /><Relationship Type="http://schemas.openxmlformats.org/officeDocument/2006/relationships/image" Target="/ppt/media/image2.png" Id="Rd8204610632f4090" /><Relationship Type="http://schemas.openxmlformats.org/officeDocument/2006/relationships/notesSlide" Target="/ppt/notesSlides/notesSlide1.xml" Id="R1890c36bdbdd42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1ee9cb2214220" /><Relationship Type="http://schemas.openxmlformats.org/officeDocument/2006/relationships/image" Target="/ppt/media/image3.png" Id="Rd43c65cbb29d4efe" /><Relationship Type="http://schemas.openxmlformats.org/officeDocument/2006/relationships/notesSlide" Target="/ppt/notesSlides/notesSlide2.xml" Id="R47a42e27f23641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a039317c44da7" /><Relationship Type="http://schemas.openxmlformats.org/officeDocument/2006/relationships/image" Target="/ppt/media/image4.png" Id="R11ca0fce133f4316" /><Relationship Type="http://schemas.openxmlformats.org/officeDocument/2006/relationships/notesSlide" Target="/ppt/notesSlides/notesSlide3.xml" Id="R2f9f23bac96d46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64AA3-1F2A-4A80-94F6-4AFCEA14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FOOTBALL HYPERGRAPH / MEMBER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E2669-9383-4D1E-94BB-CF246E8A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15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从一位球员进入多人关系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4FF6B-7F84-458C-9CC7-2B2F3BBD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同一个球员选择，让 B 主图和 C 面板同步聚焦。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4F6BC-99ED-48C9-8EBA-034F79E1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StatsBomb Open Data · match 3869685 | Codex 辅助实现、测试与材料整理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4CB4B-87A3-4582-BABB-5D696679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C · 1/3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BB3DA-5E38-4FA4-9EDB-29E7310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5353050" cy="3676650"/>
          </a:xfrm>
          <a:prstGeom xmlns:a="http://schemas.openxmlformats.org/drawingml/2006/main" prst="roundRect">
            <a:avLst>
              <a:gd name="adj" fmla="val 5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60E45-86E6-43BF-943A-D53B055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524500" cy="3676650"/>
          </a:xfrm>
          <a:prstGeom xmlns:a="http://schemas.openxmlformats.org/drawingml/2006/main" prst="roundRect">
            <a:avLst>
              <a:gd name="adj" fmla="val 5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E41E5-4113-4CDD-AFD5-16E7FC66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B 主图 · 关联超边高亮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9B8F6-AF28-43E0-B391-56155A1E9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0795851674c06"/>
          <a:stretch xmlns:a="http://schemas.openxmlformats.org/drawingml/2006/main"/>
        </p:blipFill>
        <p:spPr>
          <a:xfrm xmlns:a="http://schemas.openxmlformats.org/drawingml/2006/main">
            <a:off x="1319111" y="2533650"/>
            <a:ext cx="3838778" cy="27336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969C5-9C7E-4594-A06A-7866049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C 面板 · 球员身份与个人指标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3DBCF-835A-4472-A707-C31E361FB5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04610632f4090"/>
          <a:stretch xmlns:a="http://schemas.openxmlformats.org/drawingml/2006/main"/>
        </p:blipFill>
        <p:spPr>
          <a:xfrm xmlns:a="http://schemas.openxmlformats.org/drawingml/2006/main">
            <a:off x="6498291" y="2476500"/>
            <a:ext cx="4748493" cy="2857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CB020-2D19-4DDE-91F5-FCF7B2EE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搜索或点击节点，都写入同一球员状态；分析对象仍是三人及以上的完整关系。</a:t>
            </a:r>
          </a:p>
        </p:txBody>
      </p:sp>
    </p:spTree>
    <p:extLst>
      <p:ext uri="{BB962C8B-B14F-4D97-AF65-F5344CB8AC3E}">
        <p14:creationId xmlns:p14="http://schemas.microsoft.com/office/powerpoint/2010/main" val="267772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688AF-A519-4DB4-8C0B-AD6BCDC5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FOOTBALL HYPERGRAPH / MEMBER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31180-A854-4B33-A73B-7C9E47D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15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从个人指标走到完整组合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12976-CEBF-4BDD-B25A-5694CEA5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Messi 的对抗视角：统计参与频次，再回到来源证据。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9AD4A-662F-45BA-963D-D47CEC2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StatsBomb Open Data · match 3869685 | Codex 辅助实现、测试与材料整理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F36F2-F0FC-4E88-A5DC-E5187701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C · 2/3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D9A14-9485-4832-A1AC-077EC247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3276600" cy="3724275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8D2B1-D232-4033-9704-8C42B52D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71675"/>
            <a:ext cx="7581900" cy="3724275"/>
          </a:xfrm>
          <a:prstGeom xmlns:a="http://schemas.openxmlformats.org/drawingml/2006/main" prst="roundRect">
            <a:avLst>
              <a:gd name="adj" fmla="val 5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B2EC3-D715-4128-837B-B6B22B54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80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>
            <a:def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87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A9B38-C567-4720-A2F5-2299BC37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条对抗窗口包含 Messi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524C0-DC59-4C31-9141-D015D9FC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857"/>
          </a:bodyPr>
          <a:lstStyle xmlns:a="http://schemas.openxmlformats.org/drawingml/2006/main">
            <a:def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192C8-1FC8-4E91-92EC-B5E60D0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条与 Rabiot 共同出现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A47CC-CC5A-4F00-A1B4-C79DF3C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窗口可重叠；这不是直接对抗次数。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E6B43-2F47-4C0C-AEAE-2A68822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95500"/>
            <a:ext cx="714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共同参与 Top 5 与高频完整组合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31D5A-3D01-4B57-8EF5-8664476990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c65cbb29d4efe"/>
          <a:stretch xmlns:a="http://schemas.openxmlformats.org/drawingml/2006/main"/>
        </p:blipFill>
        <p:spPr>
          <a:xfrm xmlns:a="http://schemas.openxmlformats.org/drawingml/2006/main">
            <a:off x="4869691" y="2486025"/>
            <a:ext cx="5948293" cy="2952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2CBB8-F379-495F-9397-67603E1F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38825"/>
            <a:ext cx="11087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点击组合可展开时间、事件 ID，并请求 B 高亮同一组原始超边。</a:t>
            </a:r>
          </a:p>
        </p:txBody>
      </p:sp>
    </p:spTree>
    <p:extLst>
      <p:ext uri="{BB962C8B-B14F-4D97-AF65-F5344CB8AC3E}">
        <p14:creationId xmlns:p14="http://schemas.microsoft.com/office/powerpoint/2010/main" val="2053780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453B5-6CBE-47CF-A9D1-C178AE6E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FOOTBALL HYPERGRAPH / MEMBER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E74D1-9307-45EB-9E9F-7630173B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15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同一时间窗，切换观察角度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129F1-7A0F-4894-8362-05FDA5CD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个人表现、多人关系和射门事件共用时间与模式筛选。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BCEFC-D754-4234-B3E3-EB49889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StatsBomb Open Data · match 3869685 | Codex 辅助实现、测试与材料整理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BEDDE-E0A0-4447-B034-4F298E39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C · 3/3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460D5-32F6-4890-9FD0-9A714E2A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4857750" cy="3752850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D0EA2-40B8-4EF3-B98F-CAE33F68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71675"/>
            <a:ext cx="6019800" cy="3752850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47056-2102-4CA5-BF6B-0D6DD8B8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源时钟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E29B5-9EFD-45A8-893F-5184E691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80–81′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3AD0E-61D2-411F-9139-F2A4EBB7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Mbappé：时段 1 粒进球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F294C-AA97-41E6-88C1-28089137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全场对照仍显示 3 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89E44-B517-4E8E-87F8-D924357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时间变化后，指标与 B 主图同步更新。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B1B9E-297F-400B-AA36-0929F5E9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56C"/>
                </a:solidFill>
                <a:latin typeface="Microsoft YaHei"/>
                <a:ea typeface="Microsoft YaHei"/>
                <a:cs typeface="Microsoft YaHei"/>
              </a:rPr>
              <a:t>助攻缺失显示 N/A；点球大战排除。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FE919-BC74-48AD-AD10-6A62C393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1145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7258"/>
                </a:solidFill>
                <a:latin typeface="Microsoft YaHei"/>
                <a:ea typeface="Microsoft YaHei"/>
                <a:cs typeface="Microsoft YaHei"/>
              </a:rPr>
              <a:t>Messi 的射门位置与 xG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A65A0-3606-4BFD-AAEC-7E88ABCC0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a0fce133f4316"/>
          <a:srcRect xmlns:a="http://schemas.openxmlformats.org/drawingml/2006/main" l="0" t="11473" r="0" b="11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9775" y="2524125"/>
            <a:ext cx="5610225" cy="2914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8610B-8D42-4D7D-98DC-FA0DDB1F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3882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F38"/>
                </a:solidFill>
                <a:latin typeface="Microsoft YaHei"/>
                <a:ea typeface="Microsoft YaHei"/>
                <a:cs typeface="Microsoft YaHei"/>
              </a:rPr>
              <a:t>另可在同一时间段对比两名球员，保留各项指标原始单位。</a:t>
            </a:r>
          </a:p>
        </p:txBody>
      </p:sp>
    </p:spTree>
    <p:extLst>
      <p:ext uri="{BB962C8B-B14F-4D97-AF65-F5344CB8AC3E}">
        <p14:creationId xmlns:p14="http://schemas.microsoft.com/office/powerpoint/2010/main" val="1674456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2026-10-29T04:06:29.6190000Z</dcterms:created>
  <dcterms:modified xsi:type="dcterms:W3CDTF">2026-10-29T04:06:29.6190000Z</dcterms:modified>
</coreProperties>
</file>