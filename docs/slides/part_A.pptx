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439b64696494b" /><Relationship Type="http://schemas.openxmlformats.org/officeDocument/2006/relationships/extended-properties" Target="/docProps/app.xml" Id="Rbc2b911aaa18464e" /><Relationship Type="http://schemas.openxmlformats.org/officeDocument/2006/relationships/officeDocument" Target="/ppt/presentation.xml" Id="Rfd740641857640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a3ae7b4b5e4b92"/>
  </p:sldMasterIdLst>
  <p:notesMasterIdLst>
    <p:notesMasterId xmlns:r="http://schemas.openxmlformats.org/officeDocument/2006/relationships" r:id="Rd0f1fb44e3c143ce"/>
  </p:notesMasterIdLst>
  <p:sldIdLst>
    <p:sldId xmlns:r="http://schemas.openxmlformats.org/officeDocument/2006/relationships" id="256" r:id="Rae2ee60f48ca4ee3"/>
    <p:sldId xmlns:r="http://schemas.openxmlformats.org/officeDocument/2006/relationships" id="257" r:id="R195276d6c46946ee"/>
    <p:sldId xmlns:r="http://schemas.openxmlformats.org/officeDocument/2006/relationships" id="258" r:id="R564c79d0b4f0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318ede40c4e9f" /><Relationship Type="http://schemas.openxmlformats.org/officeDocument/2006/relationships/slideMaster" Target="/ppt/slideMasters/slideMaster1.xml" Id="R43a3ae7b4b5e4b92" /><Relationship Type="http://schemas.openxmlformats.org/officeDocument/2006/relationships/notesMaster" Target="/ppt/notesMasters/notesMaster1.xml" Id="Rd0f1fb44e3c143ce" /><Relationship Type="http://schemas.openxmlformats.org/officeDocument/2006/relationships/presProps" Target="/ppt/presProps.xml" Id="R82fd4eaf2eee4140" /><Relationship Type="http://schemas.openxmlformats.org/officeDocument/2006/relationships/tableStyles" Target="/ppt/tableStyles.xml" Id="R04e0462b21314a85" /><Relationship Type="http://schemas.openxmlformats.org/officeDocument/2006/relationships/slide" Target="/ppt/slides/slide1.xml" Id="Rae2ee60f48ca4ee3" /><Relationship Type="http://schemas.openxmlformats.org/officeDocument/2006/relationships/slide" Target="/ppt/slides/slide2.xml" Id="R195276d6c46946ee" /><Relationship Type="http://schemas.openxmlformats.org/officeDocument/2006/relationships/slide" Target="/ppt/slides/slide3.xml" Id="R564c79d0b4f0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6dc25bb57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9964d7dc84534" /><Relationship Type="http://schemas.openxmlformats.org/officeDocument/2006/relationships/notesMaster" Target="/ppt/notesMasters/notesMaster1.xml" Id="Ra5bb7cc8f0c5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a8a991bea452b" /><Relationship Type="http://schemas.openxmlformats.org/officeDocument/2006/relationships/notesMaster" Target="/ppt/notesMasters/notesMaster1.xml" Id="Rc6fbf83d7df5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31b8ece684303" /><Relationship Type="http://schemas.openxmlformats.org/officeDocument/2006/relationships/notesMaster" Target="/ppt/notesMasters/notesMaster1.xml" Id="R7f755e34556b40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口述建议 45 秒。</a:t>
            </a:r>
          </a:p>
          <a:p xmlns:a="http://schemas.openxmlformats.org/drawingml/2006/main">
            <a:r>
              <a:t>我们想把一段配合中共同参与的球员作为一个整体观察。我负责数据处理与比赛概览，为后续超边提供可追溯的输入。我们选用阿根廷对法国的 2022 年世界杯决赛。原始数据有 4407 条事件，登记名单有 50 人，其中 34 人出现在球员事件中。名单包含替补，所以 50 不是同时在场的人数。我保留球员 ID、事件 ID 和原始顺序，让后续每一条关系都能够回到真实记录。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事件 https://github.com/hudl/open-data/blob/4b73468fc5b0f1950f9f66fada70ad3a4f9327cb/data/events/3869685.json</a:t>
            </a:r>
          </a:p>
          <a:p xmlns:a="http://schemas.openxmlformats.org/drawingml/2006/main">
            <a:r>
              <a:t>球员名单 https://github.com/hudl/open-data/blob/4b73468fc5b0f1950f9f66fada70ad3a4f9327cb/data/lineups/3869685.json</a:t>
            </a:r>
          </a:p>
          <a:p xmlns:a="http://schemas.openxmlformats.org/drawingml/2006/main">
            <a:r>
              <a:t>标识 https://github.com/hudl/open-data/blob/4b73468fc5b0f1950f9f66fada70ad3a4f9327cb/img/SB%20-%20Icon%20Lockup%20-%20Colour%20positive.png</a:t>
            </a:r>
          </a:p>
          <a:p xmlns:a="http://schemas.openxmlformats.org/drawingml/2006/main">
            <a:r>
              <a:t>口径：34 为非空 player_id 的去重计数。B/D 超边模块不属于本页已完成的声明。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口述建议 60 秒。</a:t>
            </a:r>
          </a:p>
          <a:p xmlns:a="http://schemas.openxmlformats.org/drawingml/2006/main">
            <a:r>
              <a:t>数据固定到一个上游版本，并校验文件，让组员可以重建相同的输入。处理后输出球员表、事件表和统计表。事件按阶段与原始序号排列，保留原时钟，不把补时重叠或异常记录强行改成连续分钟。本场有 6 次时钟回退，其中 4 次在阶段切换，另有 2 条原始接球记录时间异常。传球必须按官方字段解释：有效 pass 对象没有 outcome 时表示完成。本场 1263 次传球，994 次明确成功，259 次明确未完成，10 次结果未知。这里的 78.7% 采用已确认成功数除以全部传球数，未知不等于失败。常规时间和加时赛纳入表现统计，点球大战单列。缺少参与者、坐标或指标时保留空值。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原始事件 https://github.com/hudl/open-data/blob/4b73468fc5b0f1950f9f66fada70ad3a4f9327cb/data/events/3869685.json</a:t>
            </a:r>
          </a:p>
          <a:p xmlns:a="http://schemas.openxmlformats.org/drawingml/2006/main">
            <a:r>
              <a:t>官方字段规范 https://github.com/hudl/open-data/blob/4b73468fc5b0f1950f9f66fada70ad3a4f9327cb/doc/StatsBomb%20Open%20Data%20Specification%20v1.1.pdf</a:t>
            </a:r>
          </a:p>
          <a:p xmlns:a="http://schemas.openxmlformats.org/drawingml/2006/main">
            <a:r>
              <a:t>版本 4b73468fc5b0f1950f9f66fada70ad3a4f9327cb</a:t>
            </a:r>
          </a:p>
          <a:p xmlns:a="http://schemas.openxmlformats.org/drawingml/2006/main">
            <a:r>
              <a:t>明确未完成 259 = Incomplete 232 + Out 20 + Pass Offside 7。原始事件序号 3438、3975 为同阶段时钟回退接球记录。原始数据、字段名和数值由脚本核对。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口述建议 65 秒，三页合计约 2 分 50 秒。</a:t>
            </a:r>
          </a:p>
          <a:p xmlns:a="http://schemas.openxmlformats.org/drawingml/2006/main">
            <a:r>
              <a:t>概览上方固定显示全场比分，筛选区下面按当前条件更新。选择 Argentina 和 Shot，得到 20 条射门。切换 France 后是 10 条。两队累计 xG 分别约为 2.76 和 2.27，这些数据提供比赛背景，但还不能证明哪个协作组合更有效。点击事件时钟可以查看事件 ID 和完整记录，汇总能够回溯。点击 Messi 时，A 通过统一状态写入球员 ID，现有 C 面板读取真实数据并显示他的两个比赛进球。球队、时间和球员选择可以联动，事件类型与阶段只影响 A。我的交付是可重建数据与可操作概览，多人超边和对抗关系由后续模块继续构建。我们使用 Codex 和 Claude 辅助代码、测试和文字整理，展示数值均来自赛事原始记录。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现场演示：打开 demos/data-a/，依次选择 Argentina + Shot、France + Shot；重置筛选，点击 Messi，展开 C 面板。时间有限时只演示前两步。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原始事件 https://github.com/hudl/open-data/blob/4b73468fc5b0f1950f9f66fada70ad3a4f9327cb/data/events/3869685.json</a:t>
            </a:r>
          </a:p>
          <a:p xmlns:a="http://schemas.openxmlformats.org/drawingml/2006/main">
            <a:r>
              <a:t>比赛元数据 https://github.com/hudl/open-data/blob/4b73468fc5b0f1950f9f66fada70ad3a4f9327cb/data/matches/43/106.json</a:t>
            </a:r>
          </a:p>
          <a:p xmlns:a="http://schemas.openxmlformats.org/drawingml/2006/main">
            <a:r>
              <a:t>截图：docs/screenshots/data-a-desktop.png，2026-10-28 在 Windows Edge 对修复后的深色界面运行验收并重新截图；图中为比分、筛选器与当前指标局部。</a:t>
            </a:r>
          </a:p>
          <a:p xmlns:a="http://schemas.openxmlformats.org/drawingml/2006/main">
            <a:r>
              <a:t>AI 披露：Codex 辅助数据管道、前端实现、测试、独立核对和文稿整理；Claude 辅助仪表盘改版，Codex 本轮复核并修复阶段拖选、球员标注和面积编码。没有把 A 的验收当成 B/D 或全组集成验收。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问答补充（不计入建议口述段）：xG 图仅在同一阶段内拖选，跨阶段拖选保留原筛选并提示；共享分钟不能传递 A 的阶段筛选给 C。无关联事件不等于未登场，Disasi 在120:35替补上场。射门可见圆面积与xG成正比，透明交互区域只用于点击。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b90c573d34b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36653cb0545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ef1e6454541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57be3dd544f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12ea4cc9146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4f81a9599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32D74A-6713-4C22-AE73-C5B0D0793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90A762-919F-45B4-B863-EF73D0A494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AE4FCD-92C3-413C-95F4-42730E693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1BD74-020A-4EF6-870C-5E9BB0001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EE4E7D-8AE1-46EE-BE5A-5BA7FCDE2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42F3D0-B7F0-4DD9-A4B2-62D779F0D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240E77-22E4-4E03-A9D1-817F085AB2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ECBA75-6CE5-4FAA-8E16-FD8BD8E87E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EF4CD8-B439-4E25-BD67-C5D7FD2AD9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E27910-E1D0-4A62-B0DF-D704403C2F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886cb78a7d428f" /><Relationship Type="http://schemas.openxmlformats.org/officeDocument/2006/relationships/slideLayout" Target="/ppt/slideLayouts/slideLayout1.xml" Id="R243a304f64bb41fe" /><Relationship Type="http://schemas.openxmlformats.org/officeDocument/2006/relationships/slideLayout" Target="/ppt/slideLayouts/slideLayout2.xml" Id="R8a9f61bbe68942bf" /><Relationship Type="http://schemas.openxmlformats.org/officeDocument/2006/relationships/slideLayout" Target="/ppt/slideLayouts/slideLayout3.xml" Id="Rde9b720ca6794f18" /><Relationship Type="http://schemas.openxmlformats.org/officeDocument/2006/relationships/slideLayout" Target="/ppt/slideLayouts/slideLayout4.xml" Id="Rd1b056fc775c4266" /><Relationship Type="http://schemas.openxmlformats.org/officeDocument/2006/relationships/slideLayout" Target="/ppt/slideLayouts/slideLayout5.xml" Id="R0d78579127424519" /><Relationship Type="http://schemas.openxmlformats.org/officeDocument/2006/relationships/slideLayout" Target="/ppt/slideLayouts/slideLayout6.xml" Id="Rbd81162245da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a304f64bb41fe"/>
    <p:sldLayoutId xmlns:r="http://schemas.openxmlformats.org/officeDocument/2006/relationships" id="2147483650" r:id="R8a9f61bbe68942bf"/>
    <p:sldLayoutId xmlns:r="http://schemas.openxmlformats.org/officeDocument/2006/relationships" id="2147483651" r:id="Rde9b720ca6794f18"/>
    <p:sldLayoutId xmlns:r="http://schemas.openxmlformats.org/officeDocument/2006/relationships" id="2147483652" r:id="Rd1b056fc775c4266"/>
    <p:sldLayoutId xmlns:r="http://schemas.openxmlformats.org/officeDocument/2006/relationships" id="2147483653" r:id="R0d78579127424519"/>
    <p:sldLayoutId xmlns:r="http://schemas.openxmlformats.org/officeDocument/2006/relationships" id="2147483654" r:id="Rbd81162245da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e336462b24b0d" /><Relationship Type="http://schemas.openxmlformats.org/officeDocument/2006/relationships/image" Target="/ppt/media/image.png" Id="R8b2f8ba44bcf44f6" /><Relationship Type="http://schemas.openxmlformats.org/officeDocument/2006/relationships/notesSlide" Target="/ppt/notesSlides/notesSlide1.xml" Id="R92e1a3f67a8f46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21fc3ac564a0d" /><Relationship Type="http://schemas.openxmlformats.org/officeDocument/2006/relationships/chart" Target="/ppt/slides/charts/chart1.xml" Id="Rcef9b3e4d1c04643" /><Relationship Type="http://schemas.openxmlformats.org/officeDocument/2006/relationships/notesSlide" Target="/ppt/notesSlides/notesSlide2.xml" Id="R35ee468d50cf42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5e495ca67496a" /><Relationship Type="http://schemas.openxmlformats.org/officeDocument/2006/relationships/chart" Target="/ppt/slides/charts/chart2.xml" Id="Ree20d5a36e694c6a" /><Relationship Type="http://schemas.openxmlformats.org/officeDocument/2006/relationships/image" Target="/ppt/media/image2.png" Id="R6d55343d58064d7f" /><Relationship Type="http://schemas.openxmlformats.org/officeDocument/2006/relationships/notesSlide" Target="/ppt/notesSlides/notesSlide3.xml" Id="Rbb60552109324e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传球次数</c:v>
          </c:tx>
          <c:spPr>
            <a:solidFill xmlns:a="http://schemas.openxmlformats.org/drawingml/2006/main">
              <a:srgbClr val="21634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163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2A69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6752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确认成功</c:v>
                </c:pt>
                <c:pt idx="1">
                  <c:v>明确未完成</c:v>
                </c:pt>
                <c:pt idx="2">
                  <c:v>结果未知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994</c:v>
                </c:pt>
                <c:pt idx="1">
                  <c:v>259</c:v>
                </c:pt>
                <c:pt idx="2">
                  <c:v>10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33E3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F4E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2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射门次数</c:v>
          </c:tx>
          <c:spPr>
            <a:solidFill xmlns:a="http://schemas.openxmlformats.org/drawingml/2006/main">
              <a:srgbClr val="2F789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F789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25C9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阿根廷</c:v>
                </c:pt>
                <c:pt idx="1">
                  <c:v>法国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233E3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3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F4E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2F4E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50428241-6706-47C2-8142-025CCB8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Football HyperGraph Explorer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6F621F-FCE4-4DEE-BE17-C0056685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3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足球比赛中的多人协作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7CD923-7E0A-4D26-8574-124055DB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A：真实数据与比赛概览</a:t>
            </a:r>
          </a:p>
        </p:txBody>
      </p:sp>
      <p:sp>
        <p:nvSpPr>
          <p:cNvPr id="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DD54C097-E38B-42F8-B63A-52E5E5F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谁共同参与了一段配合？</a:t>
            </a:r>
          </a:p>
          <a:p xmlns:a="http://schemas.openxmlformats.org/drawingml/2006/main">
            <a:pPr>
              <a:buNone/>
              <a:def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每个参与者和片段，都需要可追溯的事件依据。</a:t>
            </a:r>
          </a:p>
        </p:txBody>
      </p:sp>
      <p:sp>
        <p:nvSpPr>
          <p:cNvPr id="5" name="source-event-count">
            <a:extLst xmlns:a="http://schemas.openxmlformats.org/drawingml/2006/main">
              <a:ext uri="{FF2B5EF4-FFF2-40B4-BE49-F238E27FC236}">
                <a16:creationId xmlns:a16="http://schemas.microsoft.com/office/drawing/2014/main" id="{B70B7E99-1195-4915-8214-AC890AE3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4,407</a:t>
            </a:r>
          </a:p>
        </p:txBody>
      </p:sp>
      <p:sp>
        <p:nvSpPr>
          <p:cNvPr id="6" name="source-event-label">
            <a:extLst xmlns:a="http://schemas.openxmlformats.org/drawingml/2006/main">
              <a:ext uri="{FF2B5EF4-FFF2-40B4-BE49-F238E27FC236}">
                <a16:creationId xmlns:a16="http://schemas.microsoft.com/office/drawing/2014/main" id="{952C60A5-B285-42E2-96D3-9E445A0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原始比赛事件</a:t>
            </a:r>
          </a:p>
        </p:txBody>
      </p:sp>
      <p:sp>
        <p:nvSpPr>
          <p:cNvPr id="7" name="roster-count">
            <a:extLst xmlns:a="http://schemas.openxmlformats.org/drawingml/2006/main">
              <a:ext uri="{FF2B5EF4-FFF2-40B4-BE49-F238E27FC236}">
                <a16:creationId xmlns:a16="http://schemas.microsoft.com/office/drawing/2014/main" id="{A09AD38C-0CA9-4FB2-A498-CD06DFE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95800"/>
            <a:ext cx="295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50 / 34</a:t>
            </a:r>
          </a:p>
        </p:txBody>
      </p:sp>
      <p:sp>
        <p:nvSpPr>
          <p:cNvPr id="8" name="roster-label">
            <a:extLst xmlns:a="http://schemas.openxmlformats.org/drawingml/2006/main">
              <a:ext uri="{FF2B5EF4-FFF2-40B4-BE49-F238E27FC236}">
                <a16:creationId xmlns:a16="http://schemas.microsoft.com/office/drawing/2014/main" id="{A1005B85-8C4B-432A-B6AE-D58B59C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67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登记球员 / 有事件球员</a:t>
            </a:r>
          </a:p>
        </p:txBody>
      </p:sp>
      <p:sp>
        <p:nvSpPr>
          <p:cNvPr id="9" name="match-year">
            <a:extLst xmlns:a="http://schemas.openxmlformats.org/drawingml/2006/main">
              <a:ext uri="{FF2B5EF4-FFF2-40B4-BE49-F238E27FC236}">
                <a16:creationId xmlns:a16="http://schemas.microsoft.com/office/drawing/2014/main" id="{9E22E3FD-4390-401E-8780-CF450A67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95800"/>
            <a:ext cx="304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0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10" name="match-label">
            <a:extLst xmlns:a="http://schemas.openxmlformats.org/drawingml/2006/main">
              <a:ext uri="{FF2B5EF4-FFF2-40B4-BE49-F238E27FC236}">
                <a16:creationId xmlns:a16="http://schemas.microsoft.com/office/drawing/2014/main" id="{A5F26063-2435-4C7A-AE45-5E8FF48A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67325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世界杯决赛：阿根廷对法国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C6030-1AAE-4A6B-BE4D-A96119496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f8ba44bcf44f6"/>
          <a:stretch xmlns:a="http://schemas.openxmlformats.org/drawingml/2006/main"/>
        </p:blipFill>
        <p:spPr>
          <a:xfrm xmlns:a="http://schemas.openxmlformats.org/drawingml/2006/main">
            <a:off x="609600" y="6138693"/>
            <a:ext cx="1428750" cy="228940"/>
          </a:xfrm>
          <a:prstGeom xmlns:a="http://schemas.openxmlformats.org/drawingml/2006/main" prst="rect">
            <a:avLst/>
          </a:prstGeom>
        </p:spPr>
      </p:pic>
      <p:sp>
        <p:nvSpPr>
          <p:cNvPr id="12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610E486E-4583-4641-9233-F9B1FF2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143625"/>
            <a:ext cx="823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数据来源：StatsBomb Open Data，比赛 ID 3869685</a:t>
            </a:r>
          </a:p>
        </p:txBody>
      </p:sp>
      <p:sp>
        <p:nvSpPr>
          <p:cNvPr id="13" name="cover-page">
            <a:extLst xmlns:a="http://schemas.openxmlformats.org/drawingml/2006/main">
              <a:ext uri="{FF2B5EF4-FFF2-40B4-BE49-F238E27FC236}">
                <a16:creationId xmlns:a16="http://schemas.microsoft.com/office/drawing/2014/main" id="{0CC969AD-F8EE-40F8-AE4F-1737B344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43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484245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eprocessing-title">
            <a:extLst xmlns:a="http://schemas.openxmlformats.org/drawingml/2006/main">
              <a:ext uri="{FF2B5EF4-FFF2-40B4-BE49-F238E27FC236}">
                <a16:creationId xmlns:a16="http://schemas.microsoft.com/office/drawing/2014/main" id="{13D79BE0-EEAB-4246-83DF-B64BC2D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共享输入与统计口径</a:t>
            </a:r>
          </a:p>
        </p:txBody>
      </p:sp>
      <p:sp>
        <p:nvSpPr>
          <p:cNvPr id="2" name="preprocessing-subtitle">
            <a:extLst xmlns:a="http://schemas.openxmlformats.org/drawingml/2006/main">
              <a:ext uri="{FF2B5EF4-FFF2-40B4-BE49-F238E27FC236}">
                <a16:creationId xmlns:a16="http://schemas.microsoft.com/office/drawing/2014/main" id="{51E3D007-8D68-4FCF-839D-EE29594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固定来源版本并校验文件，输出团队共用的三份 JSON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BC2EF-BADC-42FA-A1F6-3BA1B31936E7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5191125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2924175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D7"/>
                      </a:solidFill>
                      <a:prstDash val="solid"/>
                    </a:lnL>
                    <a:lnR w="9525">
                      <a:solidFill>
                        <a:srgbClr val="D5DFD7"/>
                      </a:solidFill>
                      <a:prstDash val="solid"/>
                    </a:lnR>
                    <a:lnT w="9525">
                      <a:solidFill>
                        <a:srgbClr val="D5DFD7"/>
                      </a:solidFill>
                      <a:prstDash val="solid"/>
                    </a:lnT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216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D7"/>
                      </a:solidFill>
                      <a:prstDash val="solid"/>
                    </a:lnR>
                    <a:lnT w="9525">
                      <a:solidFill>
                        <a:srgbClr val="D5DFD7"/>
                      </a:solidFill>
                      <a:prstDash val="solid"/>
                    </a:lnT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21634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players.json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D7"/>
                      </a:solidFill>
                      <a:prstDash val="solid"/>
                    </a:lnL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球员、球队、位置和球衣号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events.json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D7"/>
                      </a:solidFill>
                      <a:prstDash val="solid"/>
                    </a:lnL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事件、时间、参与者 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stats.json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D7"/>
                      </a:solidFill>
                      <a:prstDash val="solid"/>
                    </a:lnL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个人与球队的全场统计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D7"/>
                      </a:solidFill>
                      <a:prstDash val="solid"/>
                    </a:lnR>
                    <a:lnB w="9525">
                      <a:solidFill>
                        <a:srgbClr val="D5DF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ime-rule">
            <a:extLst xmlns:a="http://schemas.openxmlformats.org/drawingml/2006/main">
              <a:ext uri="{FF2B5EF4-FFF2-40B4-BE49-F238E27FC236}">
                <a16:creationId xmlns:a16="http://schemas.microsoft.com/office/drawing/2014/main" id="{A8C40BA6-509D-4092-B4B1-060235C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9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顺序：period + event_index</a:t>
            </a:r>
          </a:p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时钟保留原值，补时会与下一阶段重叠。</a:t>
            </a:r>
          </a:p>
        </p:txBody>
      </p:sp>
      <p:sp>
        <p:nvSpPr>
          <p:cNvPr id="5" name="period-rule">
            <a:extLst xmlns:a="http://schemas.openxmlformats.org/drawingml/2006/main">
              <a:ext uri="{FF2B5EF4-FFF2-40B4-BE49-F238E27FC236}">
                <a16:creationId xmlns:a16="http://schemas.microsoft.com/office/drawing/2014/main" id="{EDCE115F-1EA4-4E7C-819C-82765837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19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第 1–4 节统计表现，点球大战单独列出。</a:t>
            </a:r>
          </a:p>
        </p:txBody>
      </p:sp>
      <p:sp>
        <p:nvSpPr>
          <p:cNvPr id="6" name="pass-rate">
            <a:extLst xmlns:a="http://schemas.openxmlformats.org/drawingml/2006/main">
              <a:ext uri="{FF2B5EF4-FFF2-40B4-BE49-F238E27FC236}">
                <a16:creationId xmlns:a16="http://schemas.microsoft.com/office/drawing/2014/main" id="{884C27F8-2FFF-453A-AD88-C0B6C807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7167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634F"/>
                </a:solidFill>
                <a:latin typeface="Microsoft YaHei"/>
                <a:ea typeface="Microsoft YaHei"/>
                <a:cs typeface="Microsoft YaHei"/>
              </a:rPr>
              <a:t>78.7%</a:t>
            </a:r>
          </a:p>
        </p:txBody>
      </p:sp>
      <p:sp>
        <p:nvSpPr>
          <p:cNvPr id="7" name="pass-rate-rule">
            <a:extLst xmlns:a="http://schemas.openxmlformats.org/drawingml/2006/main">
              <a:ext uri="{FF2B5EF4-FFF2-40B4-BE49-F238E27FC236}">
                <a16:creationId xmlns:a16="http://schemas.microsoft.com/office/drawing/2014/main" id="{F9ECA12E-BDBC-40AC-A5BE-9B4021C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76525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已确认成功数 / 全部传球数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ED58C39-F711-4C55-8686-F3A1EFF649A1}"/>
              </a:ext>
            </a:extLst>
          </p:cNvPr>
          <p:cNvGraphicFramePr/>
          <p:nvPr/>
        </p:nvGraphicFramePr>
        <p:xfrm>
          <a:off xmlns:a="http://schemas.openxmlformats.org/drawingml/2006/main" x="6353175" y="3286125"/>
          <a:ext xmlns:a="http://schemas.openxmlformats.org/drawingml/2006/main" cx="521970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f9b3e4d1c04643"/>
          </a:graphicData>
        </a:graphic>
      </p:graphicFrame>
      <p:sp>
        <p:nvSpPr>
          <p:cNvPr id="9" name="unknown-rule">
            <a:extLst xmlns:a="http://schemas.openxmlformats.org/drawingml/2006/main">
              <a:ext uri="{FF2B5EF4-FFF2-40B4-BE49-F238E27FC236}">
                <a16:creationId xmlns:a16="http://schemas.microsoft.com/office/drawing/2014/main" id="{28D3CC02-32D5-4AEC-8240-DB20AC29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8165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10 次未知结果仍在分母中，不标成失败。</a:t>
            </a:r>
          </a:p>
        </p:txBody>
      </p:sp>
      <p:sp>
        <p:nvSpPr>
          <p:cNvPr id="10" name="footer-2">
            <a:extLst xmlns:a="http://schemas.openxmlformats.org/drawingml/2006/main">
              <a:ext uri="{FF2B5EF4-FFF2-40B4-BE49-F238E27FC236}">
                <a16:creationId xmlns:a16="http://schemas.microsoft.com/office/drawing/2014/main" id="{E5729D8A-2860-40EC-A1DF-36280E6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来源：StatsBomb 官方事件与字段规范 v1.1。原始结果缺省表示完成传球，未知值继续保留。</a:t>
            </a:r>
          </a:p>
        </p:txBody>
      </p:sp>
      <p:sp>
        <p:nvSpPr>
          <p:cNvPr id="11" name="page-2">
            <a:extLst xmlns:a="http://schemas.openxmlformats.org/drawingml/2006/main">
              <a:ext uri="{FF2B5EF4-FFF2-40B4-BE49-F238E27FC236}">
                <a16:creationId xmlns:a16="http://schemas.microsoft.com/office/drawing/2014/main" id="{C772AB0C-75CD-4BD2-A35A-78D7025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453447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CB6BE294-41D9-4091-BB6C-5DC1452E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比赛概览的筛选与球员联动</a:t>
            </a:r>
          </a:p>
        </p:txBody>
      </p:sp>
      <p:sp>
        <p:nvSpPr>
          <p:cNvPr id="2" name="overview-subtitle">
            <a:extLst xmlns:a="http://schemas.openxmlformats.org/drawingml/2006/main">
              <a:ext uri="{FF2B5EF4-FFF2-40B4-BE49-F238E27FC236}">
                <a16:creationId xmlns:a16="http://schemas.microsoft.com/office/drawing/2014/main" id="{E002F47C-F8CC-4E83-B112-6AD27B3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全场比分 3:3，点球大战 4:2。下面比较常规时间与加时赛射门。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1F6866B-BE5D-4A4C-9C12-E6D48CE2C4C8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762500" cy="2486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20d5a36e694c6a"/>
          </a:graphicData>
        </a:graphic>
      </p:graphicFrame>
      <p:sp>
        <p:nvSpPr>
          <p:cNvPr id="4" name="xg-comparison">
            <a:extLst xmlns:a="http://schemas.openxmlformats.org/drawingml/2006/main">
              <a:ext uri="{FF2B5EF4-FFF2-40B4-BE49-F238E27FC236}">
                <a16:creationId xmlns:a16="http://schemas.microsoft.com/office/drawing/2014/main" id="{F039C6CD-D202-49CE-B7A5-E11C130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累计 xG：阿根廷 2.76，法国 2.27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A4D3F-E9BC-4B77-92FF-58C622181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5343d58064d7f"/>
          <a:srcRect xmlns:a="http://schemas.openxmlformats.org/drawingml/2006/main" l="0" t="3026" r="0" b="67219"/>
          <a:stretch xmlns:a="http://schemas.openxmlformats.org/drawingml/2006/main"/>
        </p:blipFill>
        <p:spPr>
          <a:xfrm xmlns:a="http://schemas.openxmlformats.org/drawingml/2006/main">
            <a:off x="6019800" y="2019300"/>
            <a:ext cx="5562600" cy="2990850"/>
          </a:xfrm>
          <a:prstGeom xmlns:a="http://schemas.openxmlformats.org/drawingml/2006/main" prst="rect">
            <a:avLst/>
          </a:prstGeom>
        </p:spPr>
      </p:pic>
      <p:sp>
        <p:nvSpPr>
          <p:cNvPr id="6" name="demo-actions">
            <a:extLst xmlns:a="http://schemas.openxmlformats.org/drawingml/2006/main">
              <a:ext uri="{FF2B5EF4-FFF2-40B4-BE49-F238E27FC236}">
                <a16:creationId xmlns:a16="http://schemas.microsoft.com/office/drawing/2014/main" id="{F1C91AE8-BACC-46A3-AEE3-3BBA7407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球队 + Shot：20 条与 10 条</a:t>
            </a:r>
          </a:p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点击事件时钟：查看原始记录</a:t>
            </a:r>
          </a:p>
          <a:p xmlns:a="http://schemas.openxmlformats.org/drawingml/2006/main">
            <a:pPr>
              <a:buNone/>
              <a:def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E36"/>
                </a:solidFill>
                <a:latin typeface="Microsoft YaHei"/>
                <a:ea typeface="Microsoft YaHei"/>
                <a:cs typeface="Microsoft YaHei"/>
              </a:rPr>
              <a:t>点击 Messi：共享球员选择给 C</a:t>
            </a:r>
          </a:p>
        </p:txBody>
      </p:sp>
      <p:sp>
        <p:nvSpPr>
          <p:cNvPr id="7" name="filter-boundaries">
            <a:extLst xmlns:a="http://schemas.openxmlformats.org/drawingml/2006/main">
              <a:ext uri="{FF2B5EF4-FFF2-40B4-BE49-F238E27FC236}">
                <a16:creationId xmlns:a16="http://schemas.microsoft.com/office/drawing/2014/main" id="{2FE02B1D-590C-4878-B31F-0ADBFA1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5562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球队、时间、球员选择跨模块联动。</a:t>
            </a:r>
          </a:p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事件类型与比赛阶段仅筛选 A。</a:t>
            </a:r>
          </a:p>
          <a:p xmlns:a="http://schemas.openxmlformats.org/drawingml/2006/main">
            <a:pPr>
              <a:buNone/>
              <a:def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多人超边由 B / D 模块继续构建。</a:t>
            </a:r>
          </a:p>
        </p:txBody>
      </p:sp>
      <p:sp>
        <p:nvSpPr>
          <p:cNvPr id="8" name="footer-3">
            <a:extLst xmlns:a="http://schemas.openxmlformats.org/drawingml/2006/main">
              <a:ext uri="{FF2B5EF4-FFF2-40B4-BE49-F238E27FC236}">
                <a16:creationId xmlns:a16="http://schemas.microsoft.com/office/drawing/2014/main" id="{3AA819E3-E6BF-4D59-B7FC-CAE667B3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数据：StatsBomb Open Data。Codex / Claude 辅助实现与测试，数值经原始记录核对。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3D9EDF1B-B08A-478C-8A56-2BC9384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970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288501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2026-10-28T04:31:48.1920000Z</dcterms:created>
  <dcterms:modified xsi:type="dcterms:W3CDTF">2026-10-28T04:31:48.1920000Z</dcterms:modified>
</coreProperties>
</file>